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87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($K)</c:v>
                </c:pt>
              </c:strCache>
            </c:strRef>
          </c:tx>
          <c:spPr>
            <a:ln w="38100" cap="flat">
              <a:solidFill>
                <a:srgbClr val="C810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8102E"/>
              </a:solidFill>
              <a:ln w="9525" cap="flat">
                <a:solidFill>
                  <a:srgbClr val="C8102E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Jan'20</c:v>
                </c:pt>
                <c:pt idx="1">
                  <c:v>Apr</c:v>
                </c:pt>
                <c:pt idx="2">
                  <c:v>Jul</c:v>
                </c:pt>
                <c:pt idx="3">
                  <c:v>Oct</c:v>
                </c:pt>
                <c:pt idx="4">
                  <c:v>Jan'21</c:v>
                </c:pt>
                <c:pt idx="5">
                  <c:v>Apr</c:v>
                </c:pt>
                <c:pt idx="6">
                  <c:v>Jul</c:v>
                </c:pt>
                <c:pt idx="7">
                  <c:v>Oct</c:v>
                </c:pt>
                <c:pt idx="8">
                  <c:v>Jan'22</c:v>
                </c:pt>
                <c:pt idx="9">
                  <c:v>Apr</c:v>
                </c:pt>
                <c:pt idx="10">
                  <c:v>Jun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882</c:v>
                </c:pt>
                <c:pt idx="1">
                  <c:v>921</c:v>
                </c:pt>
                <c:pt idx="2">
                  <c:v>1240</c:v>
                </c:pt>
                <c:pt idx="3">
                  <c:v>1180</c:v>
                </c:pt>
                <c:pt idx="4">
                  <c:v>1345</c:v>
                </c:pt>
                <c:pt idx="5">
                  <c:v>1580</c:v>
                </c:pt>
                <c:pt idx="6">
                  <c:v>1760</c:v>
                </c:pt>
                <c:pt idx="7">
                  <c:v>1540</c:v>
                </c:pt>
                <c:pt idx="8">
                  <c:v>1680</c:v>
                </c:pt>
                <c:pt idx="9">
                  <c:v>1920</c:v>
                </c:pt>
                <c:pt idx="10">
                  <c:v>1830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42C-44B6-88C6-BA28C77ED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F1F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($M)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BB-4A8F-A636-DB07117A6C25}"/>
              </c:ext>
            </c:extLst>
          </c:dPt>
          <c:dPt>
            <c:idx val="1"/>
            <c:invertIfNegative val="0"/>
            <c:bubble3D val="0"/>
            <c:spPr>
              <a:solidFill>
                <a:srgbClr val="E8A0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BB-4A8F-A636-DB07117A6C25}"/>
              </c:ext>
            </c:extLst>
          </c:dPt>
          <c:dPt>
            <c:idx val="2"/>
            <c:invertIfNegative val="0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CBB-4A8F-A636-DB07117A6C25}"/>
              </c:ext>
            </c:extLst>
          </c:dPt>
          <c:dPt>
            <c:idx val="3"/>
            <c:invertIfNegative val="0"/>
            <c:bubble3D val="0"/>
            <c:spPr>
              <a:solidFill>
                <a:srgbClr val="A0B5D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CBB-4A8F-A636-DB07117A6C25}"/>
              </c:ext>
            </c:extLst>
          </c:dPt>
          <c:dPt>
            <c:idx val="4"/>
            <c:invertIfNegative val="0"/>
            <c:bubble3D val="0"/>
            <c:spPr>
              <a:solidFill>
                <a:srgbClr val="117A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CBB-4A8F-A636-DB07117A6C25}"/>
              </c:ext>
            </c:extLst>
          </c:dPt>
          <c:dPt>
            <c:idx val="5"/>
            <c:invertIfNegative val="0"/>
            <c:bubble3D val="0"/>
            <c:spPr>
              <a:solidFill>
                <a:srgbClr val="A0D5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CBB-4A8F-A636-DB07117A6C2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C2833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United States</c:v>
                </c:pt>
                <c:pt idx="1">
                  <c:v>Australia</c:v>
                </c:pt>
                <c:pt idx="2">
                  <c:v>United Kingdom</c:v>
                </c:pt>
                <c:pt idx="3">
                  <c:v>Germany</c:v>
                </c:pt>
                <c:pt idx="4">
                  <c:v>France</c:v>
                </c:pt>
                <c:pt idx="5">
                  <c:v>Canada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9.39</c:v>
                </c:pt>
                <c:pt idx="1">
                  <c:v>9.06</c:v>
                </c:pt>
                <c:pt idx="2">
                  <c:v>3.39</c:v>
                </c:pt>
                <c:pt idx="3">
                  <c:v>2.89</c:v>
                </c:pt>
                <c:pt idx="4">
                  <c:v>2.74</c:v>
                </c:pt>
                <c:pt idx="5">
                  <c:v>1.98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CBB-4A8F-A636-DB07117A6C2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F1F3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810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F48-4EC9-B20E-50FDE06C79A5}"/>
              </c:ext>
            </c:extLst>
          </c:dPt>
          <c:dPt>
            <c:idx val="1"/>
            <c:bubble3D val="0"/>
            <c:spPr>
              <a:solidFill>
                <a:srgbClr val="117A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F48-4EC9-B20E-50FDE06C79A5}"/>
              </c:ext>
            </c:extLst>
          </c:dPt>
          <c:dPt>
            <c:idx val="2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F48-4EC9-B20E-50FDE06C79A5}"/>
              </c:ext>
            </c:extLst>
          </c:dPt>
          <c:dPt>
            <c:idx val="3"/>
            <c:bubble3D val="0"/>
            <c:spPr>
              <a:solidFill>
                <a:srgbClr val="D354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F48-4EC9-B20E-50FDE06C79A5}"/>
              </c:ext>
            </c:extLst>
          </c:dPt>
          <c:dPt>
            <c:idx val="4"/>
            <c:bubble3D val="0"/>
            <c:spPr>
              <a:solidFill>
                <a:srgbClr val="6C348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F48-4EC9-B20E-50FDE06C79A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F48-4EC9-B20E-50FDE06C79A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48-4EC9-B20E-50FDE06C79A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F48-4EC9-B20E-50FDE06C79A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F48-4EC9-B20E-50FDE06C79A5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1C2833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F48-4EC9-B20E-50FDE06C79A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Professional</c:v>
                </c:pt>
                <c:pt idx="1">
                  <c:v>Skilled Manual</c:v>
                </c:pt>
                <c:pt idx="2">
                  <c:v>Management</c:v>
                </c:pt>
                <c:pt idx="3">
                  <c:v>Clerical</c:v>
                </c:pt>
                <c:pt idx="4">
                  <c:v>Manual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F48-4EC9-B20E-50FDE06C79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3778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5D6D7E"/>
                </a:solidFill>
              </a:rPr>
              <a:t>Professionals &amp; Skilled Manuals account for 54% of revenue — primary HVP segment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5D6D7E"/>
                </a:solidFill>
              </a:rPr>
              <a:t>High-income customers drive significantly higher AOV, especially in the Bikes category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5D6D7E"/>
                </a:solidFill>
              </a:rPr>
              <a:t>Customers with 2+ orders are 3× more likely to be classified as VIP-tier spenders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AAAA"/>
                </a:solidFill>
              </a:rPr>
              <a:t>POWER BI PROJECT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5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411480" y="4206240"/>
            <a:ext cx="4114800" cy="36576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3159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D5D5"/>
                </a:solidFill>
              </a:rPr>
              <a:t>Power BI Desktop  ·  DAX  ·  Data Modeling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FFD5D5"/>
                </a:solidFill>
              </a:rPr>
              <a:t>Interactive Dashboard  ·  Business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6492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5D5"/>
                </a:solidFill>
              </a:rPr>
              <a:t>Mohammed Drihmi — Data Analyst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777240"/>
            <a:ext cx="6126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669280" y="2176272"/>
            <a:ext cx="612648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0" y="2176272"/>
            <a:ext cx="45720" cy="1005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249424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995160" y="2395728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</a:rPr>
              <a:t>Raw CSV Source Files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3291840"/>
            <a:ext cx="612648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0" y="3291840"/>
            <a:ext cx="45720" cy="10058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3364992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6995160" y="3511296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</a:rPr>
              <a:t>Interactive Dashboard Pages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4407408"/>
            <a:ext cx="612648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4407408"/>
            <a:ext cx="45720" cy="10058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4576191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995160" y="4626864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</a:rPr>
              <a:t>DAX Measures &amp; Calculated Columns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0" y="5522976"/>
            <a:ext cx="612648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5522976"/>
            <a:ext cx="45720" cy="100584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52160" y="5596128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D4AC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6995160" y="5742432"/>
            <a:ext cx="4663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</a:rPr>
              <a:t>Relational Star Schema Data Model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POWER BI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Brief: From Raw Data to Business Intelligence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02920" cy="50292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8836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468880"/>
            <a:ext cx="3611880" cy="3657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3611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D7E"/>
                </a:solidFill>
              </a:rPr>
              <a:t>The management team has no structured way to monitor performance. Data sits in disconnected CSV files with no analytical layer on top of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4206240"/>
            <a:ext cx="3611880" cy="2331720"/>
          </a:xfrm>
          <a:prstGeom prst="rect">
            <a:avLst/>
          </a:prstGeom>
          <a:solidFill>
            <a:srgbClr val="C8102E">
              <a:alpha val="5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4206240"/>
            <a:ext cx="361188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4297680"/>
            <a:ext cx="3337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102E"/>
                </a:solidFill>
              </a:rPr>
              <a:t>Global multi-country operation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102E"/>
                </a:solidFill>
              </a:rPr>
              <a:t>Only raw CSV files provided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C8102E"/>
                </a:solidFill>
              </a:rPr>
              <a:t>No unified analytical view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61688" y="1828800"/>
            <a:ext cx="502920" cy="502920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01768" y="18836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361688" y="2468880"/>
            <a:ext cx="3611880" cy="3657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61688" y="2606040"/>
            <a:ext cx="3611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D7E"/>
                </a:solidFill>
              </a:rPr>
              <a:t>Use Power BI Desktop to connect raw data, build a relational model, create DAX measures, and design an interactive multi-page dashboard.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61688" y="4206240"/>
            <a:ext cx="3611880" cy="2331720"/>
          </a:xfrm>
          <a:prstGeom prst="rect">
            <a:avLst/>
          </a:prstGeom>
          <a:solidFill>
            <a:srgbClr val="1A5276">
              <a:alpha val="5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1688" y="4206240"/>
            <a:ext cx="3611880" cy="365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4297680"/>
            <a:ext cx="3337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5276"/>
                </a:solidFill>
              </a:rPr>
              <a:t>Connect &amp; transform all source data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5276"/>
                </a:solidFill>
              </a:rPr>
              <a:t>Build relational data model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5276"/>
                </a:solidFill>
              </a:rPr>
              <a:t>Write DAX calculated measures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5276"/>
                </a:solidFill>
              </a:rPr>
              <a:t>Design interactive visuals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220456" y="1828800"/>
            <a:ext cx="502920" cy="502920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045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60536" y="18836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8220456" y="2468880"/>
            <a:ext cx="3611880" cy="3657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0456" y="2606040"/>
            <a:ext cx="3611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D6D7E"/>
                </a:solidFill>
              </a:rPr>
              <a:t>Track KPIs (revenue, profit, returns), compare regional performance, analyze product-level trends, and identify high-value customers.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0456" y="4206240"/>
            <a:ext cx="3611880" cy="2331720"/>
          </a:xfrm>
          <a:prstGeom prst="rect">
            <a:avLst/>
          </a:prstGeom>
          <a:solidFill>
            <a:srgbClr val="117A65">
              <a:alpha val="5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0456" y="4206240"/>
            <a:ext cx="3611880" cy="36576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85048" y="4297680"/>
            <a:ext cx="3337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17A65"/>
                </a:solidFill>
              </a:rPr>
              <a:t>Track: Revenue, Profit, Returns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17A65"/>
                </a:solidFill>
              </a:rPr>
              <a:t>Compare: Regional performance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17A65"/>
                </a:solidFill>
              </a:rPr>
              <a:t>Analyze: Product-level trends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17A65"/>
                </a:solidFill>
              </a:rPr>
              <a:t>Identify: High-value customers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1612880" y="6492240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612880" y="6492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POWER BI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Data: 8 Raw CSV Files → Unified Data Model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All data was sourced from flat CSV files. No database, no pre-built model, no existing relationships.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45720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65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Sales_Data_2020.csv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313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Transaction records — 2020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1874520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0" y="1874520"/>
            <a:ext cx="45720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9659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Sales_Data_2021.csv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931920" y="23134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Transaction records — 2021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990088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990088"/>
            <a:ext cx="45720" cy="9601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081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Sales_Data_2022.csv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34290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Transaction records — 2022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49040" y="2990088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990088"/>
            <a:ext cx="45720" cy="9601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308152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Product_Lookup.csv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931920" y="342900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Product catalog and pricing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" y="4105656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05656"/>
            <a:ext cx="45720" cy="9601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970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Customer_Lookup.csv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45445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Customer demographics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49040" y="4105656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4105656"/>
            <a:ext cx="45720" cy="9601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419709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Territory_Lookup.csv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931920" y="454456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Sales territories &amp; regions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5221224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5221224"/>
            <a:ext cx="45720" cy="9601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5312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Product_Categories.csv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66013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Category hierarchy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749040" y="5221224"/>
            <a:ext cx="3063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9040" y="5221224"/>
            <a:ext cx="45720" cy="9601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53126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Returns_Data.csv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931920" y="566013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Return transactions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85800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8102E"/>
                </a:solidFill>
              </a:rPr>
              <a:t>→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7406640" y="1874520"/>
            <a:ext cx="4251960" cy="468172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71232" y="19933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Was Built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71232" y="2487168"/>
            <a:ext cx="3931920" cy="713232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99248" y="252374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Query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99248" y="281635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Connected all 8 CSVs, cleaned and transformed data types, removed nulls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71232" y="3310128"/>
            <a:ext cx="3931920" cy="713232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99248" y="334670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Model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99248" y="363931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Built a star schema with 1 fact table and 5 dimension tables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71232" y="4133088"/>
            <a:ext cx="3931920" cy="713232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99248" y="416966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Relationships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699248" y="446227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Defined one-to-many relationships across all tables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571232" y="4956048"/>
            <a:ext cx="3931920" cy="713232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99248" y="49926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DAX Layer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699248" y="528523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Created 40+ calculated columns and measures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571232" y="5779008"/>
            <a:ext cx="3931920" cy="713232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99248" y="581558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 Report Pages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699248" y="6108192"/>
            <a:ext cx="3703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Executive, Map, Product, and Customer dashboards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1612880" y="6492240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612880" y="6492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DATA MODELING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Data Model — 1 Fact, 5 Dimensions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All tables connected through one-to-many relationships. Optimized for performance and DAX calculations.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0936" y="7223760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ProductColor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0936" y="7552944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ProductCost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0936" y="7882128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ProductPrice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0936" y="8211312"/>
            <a:ext cx="325526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SubcategoryKey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11612880" y="6492240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612880" y="6492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0714B049-02F6-8104-D3B1-86CC9DFB1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380" y="1919957"/>
            <a:ext cx="8792308" cy="468180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FFB3B3"/>
                </a:solidFill>
              </a:rPr>
              <a:t>PART 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536192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640080" y="2944368"/>
            <a:ext cx="10881360" cy="36576"/>
          </a:xfrm>
          <a:prstGeom prst="rect">
            <a:avLst/>
          </a:prstGeom>
          <a:solidFill>
            <a:srgbClr val="FFFFFF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D5D5"/>
                </a:solidFill>
              </a:rPr>
              <a:t>Four interactive pages built in Power BI Desktop — each answering a specific business question.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749040"/>
            <a:ext cx="2697480" cy="2697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04672" y="4370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Executive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4754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D5"/>
                </a:solidFill>
              </a:rPr>
              <a:t>KPIs, revenue trend, top products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0440" y="3749040"/>
            <a:ext cx="2697480" cy="2697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85032" y="4370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Map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85032" y="4754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D5"/>
                </a:solidFill>
              </a:rPr>
              <a:t>Regional &amp; continental performance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0" y="3749040"/>
            <a:ext cx="2697480" cy="2697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65392" y="4370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Product Detail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65392" y="4754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D5"/>
                </a:solidFill>
              </a:rPr>
              <a:t>Category drill-down, targets, trends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281160" y="3749040"/>
            <a:ext cx="2697480" cy="269748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38587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45752" y="4370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/>
              <a:t>Customer Detail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45752" y="47548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5D5"/>
                </a:solidFill>
              </a:rPr>
              <a:t>Segmentation, top customers, revenue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PAGE 01 — EXECUTIVE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Dashboard: Revenue, Orders, Profit &amp; Returns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Top-level metrics with MoM comparisons, targets, and trend sparklines. Filterable by date.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28800"/>
            <a:ext cx="27432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93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$24.9M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↑ +3.31% MoM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828800"/>
            <a:ext cx="2743200" cy="4572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1993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$10.5M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66160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57.8% margin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55080" y="1828800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828800"/>
            <a:ext cx="274320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993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25,164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92240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↑ +1.23% MoM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281160" y="1828800"/>
            <a:ext cx="2743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1828800"/>
            <a:ext cx="2743200" cy="457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0" y="199339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418320" y="256032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Return Rate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418320" y="27980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↓ Below target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27355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Monthly Targets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" y="3675888"/>
            <a:ext cx="3657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675888"/>
            <a:ext cx="3657600" cy="3657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7673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Revenue vs Target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67512" y="40782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$1.83M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2194560" y="4151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Target: $1.77M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67512" y="4608576"/>
            <a:ext cx="1645920" cy="256032"/>
          </a:xfrm>
          <a:prstGeom prst="rect">
            <a:avLst/>
          </a:prstGeom>
          <a:solidFill>
            <a:srgbClr val="1E8449">
              <a:alpha val="85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4608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✓ Achieved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61688" y="3675888"/>
            <a:ext cx="3657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61688" y="3675888"/>
            <a:ext cx="3657600" cy="36576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37673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Orders vs Target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26280" y="40782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2,146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053328" y="4151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Target: 2,000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26280" y="4608576"/>
            <a:ext cx="1645920" cy="256032"/>
          </a:xfrm>
          <a:prstGeom prst="rect">
            <a:avLst/>
          </a:prstGeom>
          <a:solidFill>
            <a:srgbClr val="1E8449">
              <a:alpha val="85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4608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8449"/>
                </a:solidFill>
              </a:rPr>
              <a:t>✓ Achieved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0456" y="3675888"/>
            <a:ext cx="36576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220456" y="3675888"/>
            <a:ext cx="3657600" cy="36576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85048" y="376732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Return Rate vs Target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385048" y="40782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2.17%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9912096" y="4151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Target: 2.00%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85048" y="4608576"/>
            <a:ext cx="1645920" cy="256032"/>
          </a:xfrm>
          <a:prstGeom prst="rect">
            <a:avLst/>
          </a:prstGeom>
          <a:solidFill>
            <a:srgbClr val="D35400">
              <a:alpha val="85000"/>
            </a:srgbClr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85048" y="4608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35400"/>
                </a:solidFill>
              </a:rPr>
              <a:t>⚠ Monitor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5394960"/>
            <a:ext cx="11155680" cy="123444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5468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C0D"/>
                </a:solidFill>
              </a:rPr>
              <a:t>📌  Key Insight: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" y="5779008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1F3F5"/>
                </a:solidFill>
              </a:rPr>
              <a:t>Revenue and orders consistently hit or exceed monthly targets. Return rate is the only KPI above its threshold — a signal to investigate product-specific return drivers and adjust quality controls.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11612880" y="6492240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612880" y="6492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PAGE 01 — EXECUTIVE SUMMARY / REVENUE TREND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Trending: Consistent Growth with Seasonal Peaks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Monthly revenue tracked from Jan 2020 through Jun 2022 with MoM% change overlay.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719072"/>
          <a:ext cx="7498080" cy="34930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357332"/>
            <a:ext cx="3474720" cy="117043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0" y="1357332"/>
            <a:ext cx="45720" cy="117043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94192" y="1448772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+107%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394192" y="195169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Revenue growth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94192" y="2198580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Jan 2020 → Jun 2022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229600" y="2655780"/>
            <a:ext cx="3474720" cy="117043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0" y="2655780"/>
            <a:ext cx="45720" cy="11704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94192" y="27472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$1.83M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394192" y="32501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Peak month revenue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94192" y="349702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June 2022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3954228"/>
            <a:ext cx="3474720" cy="117043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3954228"/>
            <a:ext cx="45720" cy="11704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94192" y="404566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$1.77M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8394192" y="454858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Monthly revenue target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394192" y="4795476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Set by management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229600" y="5252676"/>
            <a:ext cx="3474720" cy="117043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8229600" y="5252676"/>
            <a:ext cx="45720" cy="117043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394192" y="534411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+3.31%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8394192" y="584703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MoM growth rate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394192" y="6093924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EB6BF"/>
                </a:solidFill>
              </a:rPr>
              <a:t>Most recent period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2920" y="532180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Revenue by Product Category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5687568"/>
            <a:ext cx="2286000" cy="256032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02920" y="5687568"/>
            <a:ext cx="708660" cy="2560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6016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Accessories  $571K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990088" y="5687568"/>
            <a:ext cx="2286000" cy="256032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990088" y="5687568"/>
            <a:ext cx="2171700" cy="25603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90088" y="6016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Bikes  $23.6M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477256" y="5687568"/>
            <a:ext cx="2286000" cy="256032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77256" y="5687568"/>
            <a:ext cx="457200" cy="25603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77256" y="60167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D7E"/>
                </a:solidFill>
              </a:rPr>
              <a:t>Clothing  $365K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11612880" y="6492237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612880" y="651233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PAGE 02 — GEOGRAPHIC PERFORMANCE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Analysis: USA Leads, Pacific Region Surges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Sales territory performance across 6 countries and 3 continents, filterable by date and region.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719072"/>
          <a:ext cx="7132320" cy="3858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72984" y="1500822"/>
            <a:ext cx="3794760" cy="1408176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72984" y="1500822"/>
            <a:ext cx="45719" cy="14081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37576" y="159226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🌎  North America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37576" y="195802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$11.37M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747504" y="203117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45.6% share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37576" y="248837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6BF"/>
                </a:solidFill>
              </a:rPr>
              <a:t>USA + Canada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872984" y="3329622"/>
            <a:ext cx="3794760" cy="1408176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72984" y="3329622"/>
            <a:ext cx="45720" cy="1408176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037576" y="342106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🌏  Pacific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037576" y="378682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$9.06M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747504" y="385997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36.3% share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37576" y="431717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6BF"/>
                </a:solidFill>
              </a:rPr>
              <a:t>Australia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872984" y="5158422"/>
            <a:ext cx="3794760" cy="1408176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872984" y="5158422"/>
            <a:ext cx="45720" cy="140817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37576" y="5249862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🌍  Europe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037576" y="561562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$9.02M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747504" y="568877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36.2% share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37576" y="6145974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6BF"/>
                </a:solidFill>
              </a:rPr>
              <a:t>UK, Germany, France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568756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EB6BF"/>
                </a:solidFill>
              </a:rPr>
              <a:t>Visual: Interactive bubble map in Power BI with territory-level filters and drill-through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11622024" y="6273990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622024" y="627399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PAGE 03 — PRODUCT DETAIL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Analysis: Bikes Drive Revenue, Returns Need Monitoring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Drill down by product, subcategory, and category. 	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01952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901952"/>
            <a:ext cx="3657600" cy="47548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67512" y="248716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</a:rPr>
              <a:t>Revenue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67512" y="274320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$23.6M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67512" y="3264408"/>
            <a:ext cx="3310128" cy="3657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32841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</a:rPr>
              <a:t>Orders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7512" y="358444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13,929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67512" y="4105656"/>
            <a:ext cx="3310128" cy="3657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416966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</a:rPr>
              <a:t>Return Rate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7512" y="442569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1.98%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67512" y="5074920"/>
            <a:ext cx="3310128" cy="658368"/>
          </a:xfrm>
          <a:prstGeom prst="rect">
            <a:avLst/>
          </a:prstGeom>
          <a:solidFill>
            <a:srgbClr val="C8102E">
              <a:alpha val="8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512064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102E"/>
                </a:solidFill>
              </a:rPr>
              <a:t>94.8% of total revenue — primary growth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61688" y="1901952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61688" y="1901952"/>
            <a:ext cx="3657600" cy="47548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8848" y="19202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526280" y="248716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</a:rPr>
              <a:t>Revenue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26280" y="274320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$571K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4526280" y="3264408"/>
            <a:ext cx="3310128" cy="3657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332841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</a:rPr>
              <a:t>Orders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26280" y="358444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17,038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526280" y="4105656"/>
            <a:ext cx="3310128" cy="3657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16966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</a:rPr>
              <a:t>Return Rate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26280" y="442569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2.44%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4526280" y="5074920"/>
            <a:ext cx="3310128" cy="658368"/>
          </a:xfrm>
          <a:prstGeom prst="rect">
            <a:avLst/>
          </a:prstGeom>
          <a:solidFill>
            <a:srgbClr val="1A5276">
              <a:alpha val="8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54296" y="512064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276"/>
                </a:solidFill>
              </a:rPr>
              <a:t>Highest volume, lowest revenue — impulse purchases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0456" y="1901952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0456" y="1901952"/>
            <a:ext cx="3657600" cy="47548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57616" y="19202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8385048" y="2487168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</a:rPr>
              <a:t>Revenue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85048" y="2743200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$365K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8385048" y="3264408"/>
            <a:ext cx="3310128" cy="3657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85048" y="3328416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</a:rPr>
              <a:t>Orders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385048" y="3584448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7,152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8385048" y="4105656"/>
            <a:ext cx="3310128" cy="36576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85048" y="416966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EB6BF"/>
                </a:solidFill>
              </a:rPr>
              <a:t>Return Rate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85048" y="4425696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2.47%</a:t>
            </a:r>
            <a:endParaRPr lang="en-US" sz="2600" dirty="0"/>
          </a:p>
        </p:txBody>
      </p:sp>
      <p:sp>
        <p:nvSpPr>
          <p:cNvPr id="42" name="Shape 40"/>
          <p:cNvSpPr/>
          <p:nvPr/>
        </p:nvSpPr>
        <p:spPr>
          <a:xfrm>
            <a:off x="8385048" y="5074920"/>
            <a:ext cx="3310128" cy="658368"/>
          </a:xfrm>
          <a:prstGeom prst="rect">
            <a:avLst/>
          </a:prstGeom>
          <a:solidFill>
            <a:srgbClr val="117A65">
              <a:alpha val="8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13064" y="5120640"/>
            <a:ext cx="3090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7A65"/>
                </a:solidFill>
              </a:rPr>
              <a:t>Growing category — upsell opportunity with bikes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1612880" y="6492240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612880" y="6492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PAGE 04 — CUSTOMER DETAIL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/>
            <a:r>
              <a:rPr lang="en-US" sz="28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Analysis: 17,415 Customers — Top 100 Drive ~30% of Revenue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Customer segmentation by income, occupation, and revenue contribution. Filterable by year and metric type.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65166" y="2053360"/>
            <a:ext cx="365760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5166" y="2053360"/>
            <a:ext cx="365760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2326" y="22179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17,416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602326" y="278488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Unique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5166" y="3244296"/>
            <a:ext cx="3657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5166" y="3244296"/>
            <a:ext cx="3657600" cy="4572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2326" y="340888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$1,431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602326" y="39758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Revenue Per Customer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5166" y="4475415"/>
            <a:ext cx="3657600" cy="118110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5166" y="4475415"/>
            <a:ext cx="3657600" cy="4572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02326" y="4640007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2.17%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602326" y="5206935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833"/>
                </a:solidFill>
              </a:rPr>
              <a:t>Overall Return Rate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4011289692"/>
              </p:ext>
            </p:extLst>
          </p:nvPr>
        </p:nvGraphicFramePr>
        <p:xfrm>
          <a:off x="7408766" y="2137872"/>
          <a:ext cx="3840480" cy="3310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8323166" y="3321153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</a:rPr>
              <a:t>Revenue by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D6D7E"/>
                </a:solidFill>
              </a:rPr>
              <a:t>Occupation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11612880" y="6492240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1612880" y="6492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0" dirty="0">
                <a:solidFill>
                  <a:srgbClr val="AEB6BF"/>
                </a:solidFill>
              </a:rPr>
              <a:t>PART TWO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536192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Technical</a:t>
            </a:r>
            <a:endParaRPr lang="en-US" sz="60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640080" y="4005072"/>
            <a:ext cx="1088136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605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B6BF"/>
                </a:solidFill>
              </a:rPr>
              <a:t>DAX Measures  ·  Calculated Columns  ·  Data Transformations  ·  Key Insights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773168"/>
            <a:ext cx="2057400" cy="658368"/>
          </a:xfrm>
          <a:prstGeom prst="rect">
            <a:avLst/>
          </a:prstGeom>
          <a:solidFill>
            <a:srgbClr val="C8102E">
              <a:alpha val="15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48280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3F5"/>
                </a:solidFill>
              </a:rPr>
              <a:t>Power Query (M Language)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52928" y="4773168"/>
            <a:ext cx="2057400" cy="658368"/>
          </a:xfrm>
          <a:prstGeom prst="rect">
            <a:avLst/>
          </a:prstGeom>
          <a:solidFill>
            <a:srgbClr val="C8102E">
              <a:alpha val="15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62656" y="48280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3F5"/>
                </a:solidFill>
              </a:rPr>
              <a:t>DAX — Window &amp; Time Intelligence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65776" y="4773168"/>
            <a:ext cx="2057400" cy="658368"/>
          </a:xfrm>
          <a:prstGeom prst="rect">
            <a:avLst/>
          </a:prstGeom>
          <a:solidFill>
            <a:srgbClr val="C8102E">
              <a:alpha val="15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5504" y="48280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3F5"/>
                </a:solidFill>
              </a:rPr>
              <a:t>Calculated Columns &amp; Measures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278624" y="4773168"/>
            <a:ext cx="2057400" cy="658368"/>
          </a:xfrm>
          <a:prstGeom prst="rect">
            <a:avLst/>
          </a:prstGeom>
          <a:solidFill>
            <a:srgbClr val="C8102E">
              <a:alpha val="15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48280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3F5"/>
                </a:solidFill>
              </a:rPr>
              <a:t>Conditional Formatting Logic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491472" y="4773168"/>
            <a:ext cx="2057400" cy="658368"/>
          </a:xfrm>
          <a:prstGeom prst="rect">
            <a:avLst/>
          </a:prstGeom>
          <a:solidFill>
            <a:srgbClr val="C8102E">
              <a:alpha val="15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4828032"/>
            <a:ext cx="18470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3F5"/>
                </a:solidFill>
              </a:rPr>
              <a:t>Field Parameters (Metric Selection)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TECHNICAL LAYER — DAX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Measures: From Simple Totals to Advanced Logic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40+ measures and calculated columns spanning aggregations, time intelligence, KPI comparisons, and conditional formatting.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901952"/>
            <a:ext cx="3657600" cy="38404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9202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KPIs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359152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243230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" y="2706624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724912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SUMX(Sales, Sales[OrderQty] * RELATED(Products[ProductPrice]))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02920" y="3438144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5112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Total Profit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" y="3785616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803904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SUMX(Sales, Sales[OrderQty] * (RELATED(Products[ProductPrice]) - RELATED(Products[ProductCost])))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02920" y="4517136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459028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0936" y="4864608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882896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DISTINCTCOUNT(Sales[OrderNumber])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5596128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56692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</a:rPr>
              <a:t>Return Rate 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" y="5943600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" y="5961888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Returns], [Total Orders], 0)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361688" y="1901952"/>
            <a:ext cx="36576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9704" y="19202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Time Intelligence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61688" y="2359152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9704" y="243230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</a:rPr>
              <a:t>Previous Month Revenue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89704" y="2706624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62856" y="2724912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Revenue], DATEADD(Calendar[Date], -1, MONTH))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361688" y="3438144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9704" y="35112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</a:rPr>
              <a:t>MoM Revenue 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489704" y="3785616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62856" y="3803904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DIVIDE([Current Month Revenue] - [Prev Month Revenue], [Prev Month Revenue], 0)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361688" y="4517136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9704" y="459028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</a:rPr>
              <a:t>Current Month Orders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489704" y="4864608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62856" y="4882896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Orders], DATESMTD(Calendar[Date]))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361688" y="5596128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9704" y="56692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</a:rPr>
              <a:t>Revenue Sparkline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489704" y="5943600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62856" y="5961888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CALCULATE([Total Revenue], ALLSELECTED(Calendar[Date]))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220456" y="1901952"/>
            <a:ext cx="3657600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1920240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Target &amp; KPI Logic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8220456" y="2359152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243230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</a:rPr>
              <a:t>Monthly Achievement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48472" y="2706624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21624" y="2724912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DIVIDE([Current Month Revenue], [Monthly Target Revenue], 0)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220456" y="3438144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48472" y="3511296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</a:rPr>
              <a:t>CF MoM% Card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348472" y="3785616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21624" y="3803904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IF([MoM Revenue %] &gt;= 0, "▲ " &amp; FORMAT(...), "▼ " &amp; FORMAT(...))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8220456" y="4517136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48472" y="459028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</a:rPr>
              <a:t>Profit margin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348472" y="4864608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21624" y="4882896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DIVIDE([Adjusted Profit], [Total Revenue], 0)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220456" y="5596128"/>
            <a:ext cx="3657600" cy="10058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48472" y="566928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7A65"/>
                </a:solidFill>
              </a:rPr>
              <a:t>Revenue Per Customer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348472" y="5943600"/>
            <a:ext cx="3401568" cy="530352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421624" y="5961888"/>
            <a:ext cx="32735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D4AC0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DIVIDE([Total Revenue], [# of Customers], 0)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1612880" y="6492240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612880" y="6492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8102E"/>
                </a:solidFill>
              </a:rPr>
              <a:t>BUSINESS INSIGHTS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Reveals: 5 Actionable Findings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D6D7E"/>
                </a:solidFill>
              </a:rPr>
              <a:t>Insights derived directly from the dashboard — each linked to a specific metric or visual.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864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874520"/>
            <a:ext cx="45720" cy="14447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476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947672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Bikes Drive Nearly All Revenue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Bikes account for $23.6M (94.8%) of total revenue despite representing only 55% of orders. This concentration creates dependency risk.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2852928"/>
            <a:ext cx="5212080" cy="329184"/>
          </a:xfrm>
          <a:prstGeom prst="rect">
            <a:avLst/>
          </a:prstGeom>
          <a:solidFill>
            <a:srgbClr val="C8102E">
              <a:alpha val="8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871216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102E"/>
                </a:solidFill>
              </a:rPr>
              <a:t>→  Diversify marketing toward Accessories &amp; Clothing for sustainable revenue balance.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447288"/>
            <a:ext cx="54864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447288"/>
            <a:ext cx="45720" cy="144475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5204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61288" y="3520440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USA &amp; Australia = 72% of Revenue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390448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North America and Pacific regions dominate. European markets (UK, Germany, France) underperform relative to their market potential.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425696"/>
            <a:ext cx="5212080" cy="329184"/>
          </a:xfrm>
          <a:prstGeom prst="rect">
            <a:avLst/>
          </a:prstGeom>
          <a:solidFill>
            <a:srgbClr val="1A5276">
              <a:alpha val="8000"/>
            </a:srgbClr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4443984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5276"/>
                </a:solidFill>
              </a:rPr>
              <a:t>→  Increase territory-specific campaigns in European markets — particularly Germany and France.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5020056"/>
            <a:ext cx="54864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5020056"/>
            <a:ext cx="45720" cy="1444752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093208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3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61288" y="5093208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Return Rate Exceeds Target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47725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Overall return rate sits at 2.17% vs the 2.00% target. Accessories and Clothing have higher rates (2.44–2.47%) than Bikes (1.98%).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85800" y="5998464"/>
            <a:ext cx="5212080" cy="329184"/>
          </a:xfrm>
          <a:prstGeom prst="rect">
            <a:avLst/>
          </a:prstGeom>
          <a:solidFill>
            <a:srgbClr val="D35400">
              <a:alpha val="8000"/>
            </a:srgbClr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" y="6016752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35400"/>
                </a:solidFill>
              </a:rPr>
              <a:t>→  Investigate returns by SKU — identify highest-returning products and address quality or description issues.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36792" y="1874520"/>
            <a:ext cx="54864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6792" y="1874520"/>
            <a:ext cx="45720" cy="144475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19672" y="1947672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1947672"/>
            <a:ext cx="4681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Revenue Consistently Exceeds Target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19672" y="233172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Revenue has hit or surpassed the monthly target in the majority of tracked periods, with overall growth of +107% from 2020 to 2022.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19672" y="2852928"/>
            <a:ext cx="5212080" cy="329184"/>
          </a:xfrm>
          <a:prstGeom prst="rect">
            <a:avLst/>
          </a:prstGeom>
          <a:solidFill>
            <a:srgbClr val="1E8449">
              <a:alpha val="8000"/>
            </a:srgbClr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92824" y="2871216"/>
            <a:ext cx="5102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8449"/>
                </a:solidFill>
              </a:rPr>
              <a:t>→  Recalibrate targets upward to maintain stretch goals and sales team motivation.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36792" y="3447288"/>
            <a:ext cx="566928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3447288"/>
            <a:ext cx="45720" cy="144475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9672" y="3520440"/>
            <a:ext cx="438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95160" y="3520440"/>
            <a:ext cx="4864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833"/>
                </a:solidFill>
              </a:rPr>
              <a:t>Top 100 Customers Are Disproportionate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19672" y="3904488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</a:rPr>
              <a:t>Professionals &amp; Skilled Manuals drive 54% of revenue. The top customer alone represents 10× the average customer value.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519672" y="4425696"/>
            <a:ext cx="5394960" cy="329184"/>
          </a:xfrm>
          <a:prstGeom prst="rect">
            <a:avLst/>
          </a:prstGeom>
          <a:solidFill>
            <a:srgbClr val="117A65">
              <a:alpha val="8000"/>
            </a:srgbClr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92824" y="4443984"/>
            <a:ext cx="5285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7A65"/>
                </a:solidFill>
              </a:rPr>
              <a:t>→  Build a VIP retention program — exclusive offers, early access, dedicated account management.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1612880" y="6492240"/>
            <a:ext cx="256032" cy="256032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612880" y="6492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46320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389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AEB6BF"/>
                </a:solidFill>
              </a:rPr>
              <a:t>POWER BI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04672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6400800" cy="3657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212848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08483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Data Architecture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3774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8 CSVs → Power Query → Star Schema with 5 dimensions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77977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KPI Tracking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307238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Revenue, Profit, Orders, Returns — all with MoM comparisons and targets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602736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4747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Geographic 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376732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6-country coverage across 3 continents — North America leads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297680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41696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Product Intelligence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446227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Category drill-down — Bikes dominate, Accessories grow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992624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8646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Customer Insights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515721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17,415 customers profiled by occupation, income, and revenue tier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5687568"/>
            <a:ext cx="201168" cy="201168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555955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833"/>
                </a:solidFill>
              </a:rPr>
              <a:t>DAX Mastery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58521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D7E"/>
                </a:solidFill>
              </a:rPr>
              <a:t>40+ measures — time intelligence, KPI logic, conditional formatting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516368" y="594360"/>
            <a:ext cx="4434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2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7516368" y="208483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6096" y="208483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Power BI Desktop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802368" y="208483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12096" y="208483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Power Query (M Language)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516368" y="281635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6096" y="281635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DAX — Calculated Columns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802368" y="281635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12096" y="281635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DAX — Measures &amp; KPIs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516368" y="354787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26096" y="354787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Star Schema Design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802368" y="354787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12096" y="354787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Time Intelligence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16368" y="427939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6096" y="427939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Conditional Formatting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802368" y="427939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12096" y="427939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Field Parameters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16368" y="501091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26096" y="501091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Interactive Dashboard Design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802368" y="5010912"/>
            <a:ext cx="2148840" cy="594360"/>
          </a:xfrm>
          <a:prstGeom prst="rect">
            <a:avLst/>
          </a:prstGeom>
          <a:solidFill>
            <a:srgbClr val="1C28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12096" y="5010912"/>
            <a:ext cx="1938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Business Storytelling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02920" y="6537960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EB6BF"/>
                </a:solidFill>
              </a:rPr>
              <a:t>AdventureWorks Sales Performance Dashboard  ·  Power BI  ·  Mohammed Drihmi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1590</Words>
  <Application>Microsoft Office PowerPoint</Application>
  <PresentationFormat>Widescreen</PresentationFormat>
  <Paragraphs>316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drihmi</cp:lastModifiedBy>
  <cp:revision>2</cp:revision>
  <dcterms:created xsi:type="dcterms:W3CDTF">2026-05-12T07:45:23Z</dcterms:created>
  <dcterms:modified xsi:type="dcterms:W3CDTF">2026-05-12T07:09:46Z</dcterms:modified>
</cp:coreProperties>
</file>